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>
  <p:cSld name="TITLE_DARK">
    <p:bg>
      <p:bgPr>
        <a:solidFill>
          <a:srgbClr val="10261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48640" y="12344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Cambria"/>
              <a:buNone/>
              <a:defRPr b="1" i="0" sz="5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48640" y="23774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CFE3D4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CFE3D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Cambria"/>
              <a:buNone/>
              <a:defRPr b="1" i="0" sz="34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_DARK">
  <p:cSld name="CLOSING_DARK">
    <p:bg>
      <p:bgPr>
        <a:solidFill>
          <a:srgbClr val="10261A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mbria"/>
              <a:buNone/>
              <a:defRPr b="1" i="0" sz="3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548640" y="12344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Cambria"/>
              <a:buNone/>
            </a:pPr>
            <a:r>
              <a:rPr b="1" lang="en-US" sz="5600">
                <a:solidFill>
                  <a:schemeClr val="lt1"/>
                </a:solidFill>
              </a:rPr>
              <a:t>FlockGuard</a:t>
            </a:r>
            <a:endParaRPr sz="5600"/>
          </a:p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548640" y="23774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2000"/>
              <a:buNone/>
            </a:pPr>
            <a:r>
              <a:rPr lang="en-US" sz="2000">
                <a:solidFill>
                  <a:srgbClr val="CFE3D4"/>
                </a:solidFill>
              </a:rPr>
              <a:t>Local AI Poultry &amp; Livestock Health Early-Warning Platform</a:t>
            </a:r>
            <a:endParaRPr sz="2000"/>
          </a:p>
        </p:txBody>
      </p:sp>
      <p:sp>
        <p:nvSpPr>
          <p:cNvPr id="27" name="Google Shape;27;p6"/>
          <p:cNvSpPr txBox="1"/>
          <p:nvPr/>
        </p:nvSpPr>
        <p:spPr>
          <a:xfrm>
            <a:off x="548640" y="35204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Powered by Google Gemma 4 12B  ·  100% offline via Ollama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6355080" y="777240"/>
            <a:ext cx="1920240" cy="192024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ield" id="29" name="Google Shape;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5938" y="1238098"/>
            <a:ext cx="998525" cy="9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/>
          <p:nvPr/>
        </p:nvSpPr>
        <p:spPr>
          <a:xfrm>
            <a:off x="5852160" y="3017520"/>
            <a:ext cx="2926080" cy="420624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/>
        </p:nvSpPr>
        <p:spPr>
          <a:xfrm>
            <a:off x="5852160" y="3017520"/>
            <a:ext cx="2926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100% offline, on-farm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5852160" y="3566160"/>
            <a:ext cx="2926080" cy="420624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5852160" y="3566160"/>
            <a:ext cx="2926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Multilingual for farmers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5852160" y="4114800"/>
            <a:ext cx="2926080" cy="420624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5852160" y="4114800"/>
            <a:ext cx="2926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One-click vet dispatch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366375" y="4017313"/>
            <a:ext cx="67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</a:rPr>
              <a:t>Team Members : </a:t>
            </a:r>
            <a:r>
              <a:rPr lang="en-US">
                <a:highlight>
                  <a:schemeClr val="lt1"/>
                </a:highlight>
              </a:rPr>
              <a:t>Zeba Fatma Khan and Tushar Agrawal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chemeClr val="dk2"/>
                </a:solidFill>
              </a:rPr>
              <a:t>Problem &amp; Our Solution</a:t>
            </a:r>
            <a:endParaRPr sz="3400"/>
          </a:p>
        </p:txBody>
      </p:sp>
      <p:sp>
        <p:nvSpPr>
          <p:cNvPr id="43" name="Google Shape;43;p7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fmla="val 3158" name="adj"/>
            </a:avLst>
          </a:prstGeom>
          <a:solidFill>
            <a:srgbClr val="FDECEA"/>
          </a:solidFill>
          <a:ln cap="flat" cmpd="sng" w="12700">
            <a:solidFill>
              <a:srgbClr val="FD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oblem"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555" y="147035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1234440" y="1371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685800" y="2011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$100B+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68580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lost globally to recurring avian influenza outbreaks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685800" y="28803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$250K–$800K+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685800" y="3246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direct loss per mid-sized outbreak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85800" y="3749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48-hour cliff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685800" y="41148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up to 100% mortality; farmers notice only after dozens die overnight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fmla="val 3158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4892040" y="137160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olution" id="55" name="Google Shape;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0795" y="147035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/>
          <p:nvPr/>
        </p:nvSpPr>
        <p:spPr>
          <a:xfrm>
            <a:off x="5440680" y="1371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OUR SOLUTION: FLOCKGUARD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892040" y="2057400"/>
            <a:ext cx="411480" cy="4114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4892040" y="2057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5486400" y="201168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Farmer uploads a healthy baseline and a current flock photo.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4892040" y="2926080"/>
            <a:ext cx="411480" cy="4114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/>
        </p:nvSpPr>
        <p:spPr>
          <a:xfrm>
            <a:off x="4892040" y="2926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5486400" y="288036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offline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Gemma 4 12B scores density and visible anomaly risk locally.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892040" y="3794760"/>
            <a:ext cx="411480" cy="4114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4892040" y="3794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5486400" y="374904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Dispatch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One tap sends a geo-tagged alert with proof images to the vet.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 txBox="1"/>
          <p:nvPr>
            <p:ph idx="4294967295" type="sldNum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9A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type="title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chemeClr val="dk2"/>
                </a:solidFill>
              </a:rPr>
              <a:t>Technical Approach</a:t>
            </a:r>
            <a:endParaRPr sz="3400"/>
          </a:p>
        </p:txBody>
      </p:sp>
      <p:sp>
        <p:nvSpPr>
          <p:cNvPr id="73" name="Google Shape;73;p8"/>
          <p:cNvSpPr/>
          <p:nvPr/>
        </p:nvSpPr>
        <p:spPr>
          <a:xfrm>
            <a:off x="457200" y="1143000"/>
            <a:ext cx="1783080" cy="822960"/>
          </a:xfrm>
          <a:prstGeom prst="roundRect">
            <a:avLst>
              <a:gd fmla="val 1111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 txBox="1"/>
          <p:nvPr/>
        </p:nvSpPr>
        <p:spPr>
          <a:xfrm>
            <a:off x="457200" y="11430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 18 + Tailwind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3D4"/>
                </a:solidFill>
                <a:latin typeface="Calibri"/>
                <a:ea typeface="Calibri"/>
                <a:cs typeface="Calibri"/>
                <a:sym typeface="Calibri"/>
              </a:rPr>
              <a:t>Farmer &amp; vet dashboards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2304288" y="1444752"/>
            <a:ext cx="23774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2606040" y="1143000"/>
            <a:ext cx="1783080" cy="822960"/>
          </a:xfrm>
          <a:prstGeom prst="roundRect">
            <a:avLst>
              <a:gd fmla="val 1111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 txBox="1"/>
          <p:nvPr/>
        </p:nvSpPr>
        <p:spPr>
          <a:xfrm>
            <a:off x="2606040" y="11430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FastAPI (port 8000)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3D4"/>
                </a:solidFill>
                <a:latin typeface="Calibri"/>
                <a:ea typeface="Calibri"/>
                <a:cs typeface="Calibri"/>
                <a:sym typeface="Calibri"/>
              </a:rPr>
              <a:t>/analyze &amp; /compare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4453128" y="1444752"/>
            <a:ext cx="23774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4754880" y="1143000"/>
            <a:ext cx="1783080" cy="822960"/>
          </a:xfrm>
          <a:prstGeom prst="roundRect">
            <a:avLst>
              <a:gd fmla="val 1111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 txBox="1"/>
          <p:nvPr/>
        </p:nvSpPr>
        <p:spPr>
          <a:xfrm>
            <a:off x="4754880" y="11430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Ollama (port 11434)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3D4"/>
                </a:solidFill>
                <a:latin typeface="Calibri"/>
                <a:ea typeface="Calibri"/>
                <a:cs typeface="Calibri"/>
                <a:sym typeface="Calibri"/>
              </a:rPr>
              <a:t>Local inference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601968" y="1444752"/>
            <a:ext cx="23774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6903720" y="1143000"/>
            <a:ext cx="1783080" cy="822960"/>
          </a:xfrm>
          <a:prstGeom prst="roundRect">
            <a:avLst>
              <a:gd fmla="val 11111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 txBox="1"/>
          <p:nvPr/>
        </p:nvSpPr>
        <p:spPr>
          <a:xfrm>
            <a:off x="6903720" y="11430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Gemma 4 12B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 model, offline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457200" y="2194560"/>
            <a:ext cx="4023360" cy="1188720"/>
          </a:xfrm>
          <a:prstGeom prst="roundRect">
            <a:avLst>
              <a:gd fmla="val 769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40080" y="2395728"/>
            <a:ext cx="502920" cy="5029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mma feature 1" id="86" name="Google Shape;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781" y="25164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 txBox="1"/>
          <p:nvPr/>
        </p:nvSpPr>
        <p:spPr>
          <a:xfrm>
            <a:off x="1325880" y="22860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100% offline in remote villages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Gemma runs on barn hardware via Ollama. No internet, no cloud; images never leave the farm.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4663440" y="2194560"/>
            <a:ext cx="4023360" cy="1188720"/>
          </a:xfrm>
          <a:prstGeom prst="roundRect">
            <a:avLst>
              <a:gd fmla="val 769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4846320" y="2395728"/>
            <a:ext cx="502920" cy="5029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mma feature 2"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7021" y="25164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 txBox="1"/>
          <p:nvPr/>
        </p:nvSpPr>
        <p:spPr>
          <a:xfrm>
            <a:off x="5532120" y="22860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Speaks the farmer's language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Hindi, Marathi, Telugu, Spanish, Swahili and more, with native multilingual output.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57200" y="3566160"/>
            <a:ext cx="4023360" cy="1188720"/>
          </a:xfrm>
          <a:prstGeom prst="roundRect">
            <a:avLst>
              <a:gd fmla="val 769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640080" y="3767328"/>
            <a:ext cx="502920" cy="5029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mma feature 3" id="94" name="Google Shape;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781" y="38880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 txBox="1"/>
          <p:nvPr/>
        </p:nvSpPr>
        <p:spPr>
          <a:xfrm>
            <a:off x="1325880" y="36576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Before-vs-after delta engine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Compares a healthy baseline to the current flock: huddling density, stationary birds, posture.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663440" y="3566160"/>
            <a:ext cx="4023360" cy="1188720"/>
          </a:xfrm>
          <a:prstGeom prst="roundRect">
            <a:avLst>
              <a:gd fmla="val 769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4846320" y="3767328"/>
            <a:ext cx="502920" cy="5029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mma feature 4" id="98" name="Google Shape;9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7021" y="38880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 txBox="1"/>
          <p:nvPr/>
        </p:nvSpPr>
        <p:spPr>
          <a:xfrm>
            <a:off x="5532120" y="36576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Responsible, non-clinical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Scores visible anomaly risk only, never diagnoses. A licensed vet confirms every alert.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 txBox="1"/>
          <p:nvPr>
            <p:ph idx="4294967295" type="sldNum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9A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chemeClr val="dk2"/>
                </a:solidFill>
              </a:rPr>
              <a:t>Impact &amp; Benefits</a:t>
            </a:r>
            <a:endParaRPr sz="3400"/>
          </a:p>
        </p:txBody>
      </p:sp>
      <p:sp>
        <p:nvSpPr>
          <p:cNvPr id="107" name="Google Shape;107;p9"/>
          <p:cNvSpPr/>
          <p:nvPr/>
        </p:nvSpPr>
        <p:spPr>
          <a:xfrm>
            <a:off x="457200" y="1188720"/>
            <a:ext cx="2743200" cy="3474720"/>
          </a:xfrm>
          <a:prstGeom prst="roundRect">
            <a:avLst>
              <a:gd fmla="val 4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68580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3D4"/>
                </a:solidFill>
                <a:latin typeface="Calibri"/>
                <a:ea typeface="Calibri"/>
                <a:cs typeface="Calibri"/>
                <a:sym typeface="Calibri"/>
              </a:rPr>
              <a:t>Catch it 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685800" y="1965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Day 1–2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685800" y="27889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Day 5+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685800" y="34747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D4"/>
                </a:solidFill>
                <a:latin typeface="Calibri"/>
                <a:ea typeface="Calibri"/>
                <a:cs typeface="Calibri"/>
                <a:sym typeface="Calibri"/>
              </a:rPr>
              <a:t>Flag subtle huddling and reduced activity before surge mortality and mass culling.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474720" y="1188720"/>
            <a:ext cx="2514600" cy="1051560"/>
          </a:xfrm>
          <a:prstGeom prst="roundRect">
            <a:avLst>
              <a:gd fmla="val 869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3611880" y="132588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nefit 1"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635" y="142463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 txBox="1"/>
          <p:nvPr/>
        </p:nvSpPr>
        <p:spPr>
          <a:xfrm>
            <a:off x="4114800" y="1298448"/>
            <a:ext cx="1783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Earlier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Flags huddling and low activity before mortality spikes.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6172200" y="1188720"/>
            <a:ext cx="2514600" cy="1051560"/>
          </a:xfrm>
          <a:prstGeom prst="roundRect">
            <a:avLst>
              <a:gd fmla="val 869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6309360" y="132588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nefit 2" id="118" name="Google Shape;1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8115" y="142463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 txBox="1"/>
          <p:nvPr/>
        </p:nvSpPr>
        <p:spPr>
          <a:xfrm>
            <a:off x="6812280" y="1298448"/>
            <a:ext cx="1783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Protects livelihoods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Helps limit outbreak losses of $250K–$800K+ per farm.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3474720" y="2400300"/>
            <a:ext cx="2514600" cy="1051560"/>
          </a:xfrm>
          <a:prstGeom prst="roundRect">
            <a:avLst>
              <a:gd fmla="val 869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3611880" y="253746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nefit 3" id="122" name="Google Shape;12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0635" y="263621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9"/>
          <p:cNvSpPr txBox="1"/>
          <p:nvPr/>
        </p:nvSpPr>
        <p:spPr>
          <a:xfrm>
            <a:off x="4114800" y="2510028"/>
            <a:ext cx="1783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Works anywhere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No connectivity needed, so remote villages are covered.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172200" y="2400300"/>
            <a:ext cx="2514600" cy="1051560"/>
          </a:xfrm>
          <a:prstGeom prst="roundRect">
            <a:avLst>
              <a:gd fmla="val 869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6309360" y="253746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nefit 4" id="126" name="Google Shape;12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8115" y="263621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 txBox="1"/>
          <p:nvPr/>
        </p:nvSpPr>
        <p:spPr>
          <a:xfrm>
            <a:off x="6812280" y="2510028"/>
            <a:ext cx="1783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Private by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Flock images and video never leave the farm network.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474720" y="3611880"/>
            <a:ext cx="2514600" cy="1051560"/>
          </a:xfrm>
          <a:prstGeom prst="roundRect">
            <a:avLst>
              <a:gd fmla="val 869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3611880" y="374904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nefit 5" id="130" name="Google Shape;13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10635" y="38477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"/>
          <p:cNvSpPr txBox="1"/>
          <p:nvPr/>
        </p:nvSpPr>
        <p:spPr>
          <a:xfrm>
            <a:off x="4114800" y="3721608"/>
            <a:ext cx="1783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Faster vet triage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Location, proof images and key indicators in one view.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172200" y="3611880"/>
            <a:ext cx="2514600" cy="1051560"/>
          </a:xfrm>
          <a:prstGeom prst="roundRect">
            <a:avLst>
              <a:gd fmla="val 869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6309360" y="374904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nefit 6" id="134" name="Google Shape;13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8115" y="38477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 txBox="1"/>
          <p:nvPr/>
        </p:nvSpPr>
        <p:spPr>
          <a:xfrm>
            <a:off x="6812280" y="3721608"/>
            <a:ext cx="1783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Inclusive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A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F4A43"/>
                </a:solidFill>
                <a:latin typeface="Calibri"/>
                <a:ea typeface="Calibri"/>
                <a:cs typeface="Calibri"/>
                <a:sym typeface="Calibri"/>
              </a:rPr>
              <a:t>Interface in the farmer's own native language.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>
            <p:ph idx="4294967295" type="sldNum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9A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chemeClr val="dk2"/>
                </a:solidFill>
              </a:rPr>
              <a:t>Feasibility &amp; Viability</a:t>
            </a:r>
            <a:endParaRPr sz="3400"/>
          </a:p>
        </p:txBody>
      </p:sp>
      <p:sp>
        <p:nvSpPr>
          <p:cNvPr id="143" name="Google Shape;143;p10"/>
          <p:cNvSpPr/>
          <p:nvPr/>
        </p:nvSpPr>
        <p:spPr>
          <a:xfrm>
            <a:off x="457200" y="1188720"/>
            <a:ext cx="2651760" cy="2514600"/>
          </a:xfrm>
          <a:prstGeom prst="roundRect">
            <a:avLst>
              <a:gd fmla="val 363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easibility 1"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 txBox="1"/>
          <p:nvPr/>
        </p:nvSpPr>
        <p:spPr>
          <a:xfrm>
            <a:off x="1234440" y="13716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Technically feasible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640080" y="2011680"/>
            <a:ext cx="23317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Working MVP: React + FastAPI + Ollama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Runs on 16 GB RAM with an 8 GB VRAM GPU or Apple Silicon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Standard open-source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246120" y="1188720"/>
            <a:ext cx="2651760" cy="2514600"/>
          </a:xfrm>
          <a:prstGeom prst="roundRect">
            <a:avLst>
              <a:gd fmla="val 363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easibility 2" id="150" name="Google Shape;1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72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 txBox="1"/>
          <p:nvPr/>
        </p:nvSpPr>
        <p:spPr>
          <a:xfrm>
            <a:off x="4023360" y="13716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Economically viable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3429000" y="2011680"/>
            <a:ext cx="23317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No cloud subscription or per-image fees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Low-cost edge hardware, one-time setup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Decision-support fits the existing vet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035040" y="1188720"/>
            <a:ext cx="2651760" cy="2514600"/>
          </a:xfrm>
          <a:prstGeom prst="roundRect">
            <a:avLst>
              <a:gd fmla="val 363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easibility 3" id="155" name="Google Shape;15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0"/>
          <p:cNvSpPr txBox="1"/>
          <p:nvPr/>
        </p:nvSpPr>
        <p:spPr>
          <a:xfrm>
            <a:off x="6812280" y="13716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6217920" y="2011680"/>
            <a:ext cx="23317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Multilingual, ready for any region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Same pipeline extends to swine and livestock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E3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A33"/>
                </a:solidFill>
                <a:latin typeface="Calibri"/>
                <a:ea typeface="Calibri"/>
                <a:cs typeface="Calibri"/>
                <a:sym typeface="Calibri"/>
              </a:rPr>
              <a:t>Edge-ready for Jetson and Raspberry 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fmla="val 125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685800" y="393192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1783080" y="39319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Thermal imaging for fever spikes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703320" y="4187952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4160520" y="39319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Multi-camera RTSP 24/7 scanning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080760" y="4187952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6537960" y="39319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Jetson / Raspberry Pi edge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>
            <p:ph idx="4294967295" type="sldNum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A8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9A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type="title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chemeClr val="lt1"/>
                </a:solidFill>
              </a:rPr>
              <a:t>Repository &amp; Demo</a:t>
            </a:r>
            <a:endParaRPr sz="3400"/>
          </a:p>
        </p:txBody>
      </p:sp>
      <p:sp>
        <p:nvSpPr>
          <p:cNvPr id="172" name="Google Shape;172;p11"/>
          <p:cNvSpPr/>
          <p:nvPr/>
        </p:nvSpPr>
        <p:spPr>
          <a:xfrm>
            <a:off x="457200" y="1280160"/>
            <a:ext cx="4023360" cy="1737360"/>
          </a:xfrm>
          <a:prstGeom prst="roundRect">
            <a:avLst>
              <a:gd fmla="val 6316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nk 1"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139" y="17080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1"/>
          <p:cNvSpPr txBox="1"/>
          <p:nvPr/>
        </p:nvSpPr>
        <p:spPr>
          <a:xfrm>
            <a:off x="1554480" y="15544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31520" y="2377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https://github.com/tushar-313/hacktoberfest_hackday.git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663440" y="1280160"/>
            <a:ext cx="4023360" cy="1737360"/>
          </a:xfrm>
          <a:prstGeom prst="roundRect">
            <a:avLst>
              <a:gd fmla="val 6316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nk 2" id="179" name="Google Shape;17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1379" y="17080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4937760" y="2377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https://platforms-illinois-hence-pearl.trycloudflare.com/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457200" y="3383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DEMO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57200" y="3749040"/>
            <a:ext cx="1783080" cy="685800"/>
          </a:xfrm>
          <a:prstGeom prst="roundRect">
            <a:avLst>
              <a:gd fmla="val 13333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457200" y="374904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Load anomaly case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2304288" y="3995928"/>
            <a:ext cx="23774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2606040" y="3749040"/>
            <a:ext cx="1783080" cy="685800"/>
          </a:xfrm>
          <a:prstGeom prst="roundRect">
            <a:avLst>
              <a:gd fmla="val 13333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2606040" y="374904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 local AI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453128" y="3995928"/>
            <a:ext cx="23774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4754880" y="3749040"/>
            <a:ext cx="1783080" cy="685800"/>
          </a:xfrm>
          <a:prstGeom prst="roundRect">
            <a:avLst>
              <a:gd fmla="val 13333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4754880" y="374904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Dispatch urgent vet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601968" y="3995928"/>
            <a:ext cx="23774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6903720" y="3749040"/>
            <a:ext cx="1783080" cy="685800"/>
          </a:xfrm>
          <a:prstGeom prst="roundRect">
            <a:avLst>
              <a:gd fmla="val 13333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6903720" y="374904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Vet accepts visit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ockGuard">
  <a:themeElements>
    <a:clrScheme name="FlockGuard">
      <a:dk1>
        <a:srgbClr val="10261A"/>
      </a:dk1>
      <a:lt1>
        <a:srgbClr val="FFFFFF"/>
      </a:lt1>
      <a:dk2>
        <a:srgbClr val="1F5130"/>
      </a:dk2>
      <a:lt2>
        <a:srgbClr val="EAF4EC"/>
      </a:lt2>
      <a:accent1>
        <a:srgbClr val="2E7D4F"/>
      </a:accent1>
      <a:accent2>
        <a:srgbClr val="F2A93B"/>
      </a:accent2>
      <a:accent3>
        <a:srgbClr val="C0392B"/>
      </a:accent3>
      <a:accent4>
        <a:srgbClr val="5FA777"/>
      </a:accent4>
      <a:accent5>
        <a:srgbClr val="3C6E8F"/>
      </a:accent5>
      <a:accent6>
        <a:srgbClr val="8A9A8F"/>
      </a:accent6>
      <a:hlink>
        <a:srgbClr val="2E7D4F"/>
      </a:hlink>
      <a:folHlink>
        <a:srgbClr val="5FA77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ckGuard">
  <a:themeElements>
    <a:clrScheme name="FlockGuard">
      <a:dk1>
        <a:srgbClr val="10261A"/>
      </a:dk1>
      <a:lt1>
        <a:srgbClr val="FFFFFF"/>
      </a:lt1>
      <a:dk2>
        <a:srgbClr val="1F5130"/>
      </a:dk2>
      <a:lt2>
        <a:srgbClr val="EAF4EC"/>
      </a:lt2>
      <a:accent1>
        <a:srgbClr val="2E7D4F"/>
      </a:accent1>
      <a:accent2>
        <a:srgbClr val="F2A93B"/>
      </a:accent2>
      <a:accent3>
        <a:srgbClr val="C0392B"/>
      </a:accent3>
      <a:accent4>
        <a:srgbClr val="5FA777"/>
      </a:accent4>
      <a:accent5>
        <a:srgbClr val="3C6E8F"/>
      </a:accent5>
      <a:accent6>
        <a:srgbClr val="8A9A8F"/>
      </a:accent6>
      <a:hlink>
        <a:srgbClr val="2E7D4F"/>
      </a:hlink>
      <a:folHlink>
        <a:srgbClr val="5FA77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